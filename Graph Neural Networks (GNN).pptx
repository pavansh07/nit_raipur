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7" r:id="rId11"/>
    <p:sldId id="269" r:id="rId12"/>
    <p:sldId id="270" r:id="rId13"/>
    <p:sldId id="273" r:id="rId14"/>
    <p:sldId id="272" r:id="rId15"/>
    <p:sldId id="274" r:id="rId16"/>
    <p:sldId id="275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34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EF3EC-78E4-4ECD-AC70-A5190E15745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7753F-8DDE-4849-876E-91A7DC18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00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7753F-8DDE-4849-876E-91A7DC180F8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807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64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65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7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37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00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7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33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72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52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392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134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71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026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640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395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68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5FF520-95DF-4D3F-9237-A2DA1808065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211EDAB-54D1-4C45-9FAF-75EA6A265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88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26E7D-B7F9-3FAB-BD7B-C98510DFD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551709"/>
            <a:ext cx="6815669" cy="183495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Networks (GNN)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Classification and Node Embeddings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BEF89-4DC7-EB81-7F60-8AF607A635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+ Practical Implementation on Cora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4FC1D-638D-A7D9-7EF2-D34430187CD1}"/>
              </a:ext>
            </a:extLst>
          </p:cNvPr>
          <p:cNvSpPr txBox="1"/>
          <p:nvPr/>
        </p:nvSpPr>
        <p:spPr>
          <a:xfrm>
            <a:off x="7675418" y="4830831"/>
            <a:ext cx="2299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PAVAN KUMAR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475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F761-1E9C-387D-19BF-167D333B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20559"/>
          </a:xfrm>
        </p:spPr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EDB7-EAC8-E589-0664-F9435C8B3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86182"/>
            <a:ext cx="9601196" cy="328968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real-world data are graph structured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contains: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networks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</a:t>
            </a:r>
          </a:p>
        </p:txBody>
      </p:sp>
    </p:spTree>
    <p:extLst>
      <p:ext uri="{BB962C8B-B14F-4D97-AF65-F5344CB8AC3E}">
        <p14:creationId xmlns:p14="http://schemas.microsoft.com/office/powerpoint/2010/main" val="3532237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2B49-232D-B9F8-077B-82FA2087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only GNN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34B91-F380-54ED-06CA-A80A93AD6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graph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features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 relationships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message passing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learns from both node information and graph structure.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227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8EE3-CD34-E4AF-B90B-8A407401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322" y="631612"/>
            <a:ext cx="9601196" cy="13038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Not Traditional Neural Networks?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EAC0-9649-F0F2-4599-D458989C5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2" y="2716104"/>
            <a:ext cx="3703318" cy="331893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NN / MLP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Treats nodes independently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graph connections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neighbour nodes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relationships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4DEF3F-BEC1-EC54-3D43-9BDC691D3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35771"/>
              </p:ext>
            </p:extLst>
          </p:nvPr>
        </p:nvGraphicFramePr>
        <p:xfrm>
          <a:off x="6096000" y="2716104"/>
          <a:ext cx="5425438" cy="3318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19">
                  <a:extLst>
                    <a:ext uri="{9D8B030D-6E8A-4147-A177-3AD203B41FA5}">
                      <a16:colId xmlns:a16="http://schemas.microsoft.com/office/drawing/2014/main" val="4141438537"/>
                    </a:ext>
                  </a:extLst>
                </a:gridCol>
                <a:gridCol w="2712719">
                  <a:extLst>
                    <a:ext uri="{9D8B030D-6E8A-4147-A177-3AD203B41FA5}">
                      <a16:colId xmlns:a16="http://schemas.microsoft.com/office/drawing/2014/main" val="301100965"/>
                    </a:ext>
                  </a:extLst>
                </a:gridCol>
              </a:tblGrid>
              <a:tr h="82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679277"/>
                  </a:ext>
                </a:extLst>
              </a:tr>
              <a:tr h="82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901861"/>
                  </a:ext>
                </a:extLst>
              </a:tr>
              <a:tr h="82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graph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graph-aware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966301"/>
                  </a:ext>
                </a:extLst>
              </a:tr>
              <a:tr h="82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26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141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4122-4EF2-A086-11CC-8ED8D98A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TECHNIQUES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3C059-C264-F278-1414-10FDE927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476499"/>
            <a:ext cx="4718304" cy="5762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Classification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235B6-DE77-9003-641C-6E5AAE508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7696" y="3052761"/>
            <a:ext cx="4718304" cy="308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label/class of nodes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features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structure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topic prediction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1CC95-F7C2-89CD-E5B2-4A18646F6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0" y="2476499"/>
            <a:ext cx="4718304" cy="5762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Embeddings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A469EA-B08F-12DC-2376-255ED761F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8294" y="3080383"/>
            <a:ext cx="4718304" cy="3081338"/>
          </a:xfrm>
        </p:spPr>
        <p:txBody>
          <a:bodyPr>
            <a:normAutofit fontScale="77500" lnSpcReduction="2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classification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clustering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learning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nodes into vectors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nodes → similar embeddings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graph structure </a:t>
            </a:r>
          </a:p>
        </p:txBody>
      </p:sp>
    </p:spTree>
    <p:extLst>
      <p:ext uri="{BB962C8B-B14F-4D97-AF65-F5344CB8AC3E}">
        <p14:creationId xmlns:p14="http://schemas.microsoft.com/office/powerpoint/2010/main" val="1662998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C521-1641-F0AC-81E9-0F40BA77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Node2Vec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9FEC2-AF04-862C-2766-E6F8CC512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embeddings using random walks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graph structure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Structure-based learning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Node2Vec uses graph relationships but not node features directly.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550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780A-F4D6-56BB-E670-4CC26387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Node2Vec vs Node2Vec + Raw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9844C-F9CE-8400-1F61-1DEF153D0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Node2Vec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E887A-A282-E1D9-F6C4-51385731B1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only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position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feature usage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599C5-2217-F805-9B00-D6C2EBB01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Node2Vec + Raw Features of node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13BEF-2003-6742-6F9D-3D4DA4D99A3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+ semantics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+ node meaning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node features</a:t>
            </a:r>
          </a:p>
        </p:txBody>
      </p:sp>
    </p:spTree>
    <p:extLst>
      <p:ext uri="{BB962C8B-B14F-4D97-AF65-F5344CB8AC3E}">
        <p14:creationId xmlns:p14="http://schemas.microsoft.com/office/powerpoint/2010/main" val="484806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8E67-1D30-5EF4-2ECD-658575E4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E3429-9C97-8DDD-0481-E8FAA2FE66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GCN: Graph Convolutional      Network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neighbour aggregation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embeddings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balance of speed + accuracy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EE20B-ECFB-4882-64C9-0119278593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GAT: Graph Attention Network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attention mechanism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neighbours contribute more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class separation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neighbors are equally important.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710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6182-2842-E659-7B0C-76336A77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7DC4D-80DE-48CF-5691-04BEBCE538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GIN: Graph Isomorphism Network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Structure-preserving aggregation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expressive power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exact graph structure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D7A7F-4B57-2C4B-698F-1422CD4292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neighbours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huge graphs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Industry-friendly architecture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large-scale real-world systems.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0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E61B557A-DF5C-C422-DF5A-B5E54F825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4"/>
          <a:stretch>
            <a:fillRect/>
          </a:stretch>
        </p:blipFill>
        <p:spPr bwMode="auto">
          <a:xfrm>
            <a:off x="2299854" y="250209"/>
            <a:ext cx="7592291" cy="60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110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EC1C-0502-5B48-6697-70D9D7E2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-- CORA Dataset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E214F00-181C-0A77-25A7-2251E9CC5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5030"/>
          <a:stretch>
            <a:fillRect/>
          </a:stretch>
        </p:blipFill>
        <p:spPr>
          <a:xfrm>
            <a:off x="1219200" y="2285999"/>
            <a:ext cx="9677398" cy="388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49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4FE524A8-1B67-30A3-9AC4-9DFD1ACCA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577" y="776287"/>
            <a:ext cx="8939502" cy="53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509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605E-F0D9-6920-30AE-CB66EAB7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026" y="1560945"/>
            <a:ext cx="9601196" cy="658115"/>
          </a:xfrm>
        </p:spPr>
        <p:txBody>
          <a:bodyPr>
            <a:noAutofit/>
          </a:bodyPr>
          <a:lstStyle/>
          <a:p>
            <a:pPr font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vs GNN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37F03-724D-F13D-2D76-873D9E08C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958A1-5FDE-EF49-B7C6-797C682D13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22399" y="3243792"/>
            <a:ext cx="3346404" cy="263207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10EBB-1E3A-AFBD-C011-32F0D9087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EE22B7B-F116-E1EE-2933-0345DFB2CA7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2473" y="3243263"/>
            <a:ext cx="4036291" cy="26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85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8762-453F-E001-78F9-76B54D8B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Visualization</a:t>
            </a:r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7D9C2805-BE0E-AC27-8CAA-0B9FC54ED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83" y="2479378"/>
            <a:ext cx="3381955" cy="339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53506464-2595-5713-AE95-C117C56A7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2508366"/>
            <a:ext cx="3333750" cy="333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8698F367-8A29-7730-3AA1-101894BC9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539" y="2479378"/>
            <a:ext cx="3348038" cy="333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5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B920-607F-199E-CFDE-CD437EA19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Scenario's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52BF29AF-C947-635B-30EC-1A004F7DC8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5501"/>
          <a:stretch>
            <a:fillRect/>
          </a:stretch>
        </p:blipFill>
        <p:spPr bwMode="auto">
          <a:xfrm>
            <a:off x="1295402" y="2171458"/>
            <a:ext cx="9892145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722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B4F9-DDE7-85E7-2BC1-7D729C4C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0F9A-0C1A-EE47-DEA0-6B169CFD6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GNNs outperform traditional NNs on graph data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structure improves Node classification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embeddings improve representation learning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GNNs have different strengths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GraphSAGE useful for scalable systems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graph structure improves Node classification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3133211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rick Wall Speech Bubble Thank You Design Presentation Template">
            <a:extLst>
              <a:ext uri="{FF2B5EF4-FFF2-40B4-BE49-F238E27FC236}">
                <a16:creationId xmlns:a16="http://schemas.microsoft.com/office/drawing/2014/main" id="{B230EFCA-EC0C-5CE6-FF9C-D18800763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0000" y1="31667" x2="39896" y2="32500"/>
                        <a14:foregroundMark x1="39792" y1="33472" x2="39792" y2="33472"/>
                        <a14:foregroundMark x1="57500" y1="61944" x2="57500" y2="61944"/>
                        <a14:backgroundMark x1="78229" y1="68611" x2="78229" y2="68611"/>
                        <a14:backgroundMark x1="78125" y1="68611" x2="78125" y2="68611"/>
                        <a14:backgroundMark x1="78021" y1="67778" x2="77500" y2="690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80" y="580734"/>
            <a:ext cx="9563099" cy="544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582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117</TotalTime>
  <Words>332</Words>
  <Application>Microsoft Office PowerPoint</Application>
  <PresentationFormat>Widescreen</PresentationFormat>
  <Paragraphs>102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Garamond</vt:lpstr>
      <vt:lpstr>Times New Roman</vt:lpstr>
      <vt:lpstr>Organic</vt:lpstr>
      <vt:lpstr>Graph Neural Networks (GNN) Node Classification and Node Embeddings</vt:lpstr>
      <vt:lpstr>Introduction to Graphs</vt:lpstr>
      <vt:lpstr>Why only GNN</vt:lpstr>
      <vt:lpstr>Why Not Traditional Neural Networks?</vt:lpstr>
      <vt:lpstr>NODE TECHNIQUES</vt:lpstr>
      <vt:lpstr>Node2Vec</vt:lpstr>
      <vt:lpstr>Node2Vec vs Node2Vec + Raw Features</vt:lpstr>
      <vt:lpstr>GNN Architectures</vt:lpstr>
      <vt:lpstr>GNN Architectures</vt:lpstr>
      <vt:lpstr>PowerPoint Presentation</vt:lpstr>
      <vt:lpstr>Experimental Results                                               -- CORA Dataset</vt:lpstr>
      <vt:lpstr>PowerPoint Presentation</vt:lpstr>
      <vt:lpstr>MLP vs GNN </vt:lpstr>
      <vt:lpstr>Embedding Visualization</vt:lpstr>
      <vt:lpstr>Real Time Scenario's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kumar</dc:creator>
  <cp:lastModifiedBy>pavan kumar</cp:lastModifiedBy>
  <cp:revision>4</cp:revision>
  <dcterms:created xsi:type="dcterms:W3CDTF">2026-05-22T06:12:20Z</dcterms:created>
  <dcterms:modified xsi:type="dcterms:W3CDTF">2026-05-22T08:16:48Z</dcterms:modified>
</cp:coreProperties>
</file>